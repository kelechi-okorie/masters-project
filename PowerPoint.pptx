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1" r:id="rId8"/>
    <p:sldId id="262" r:id="rId9"/>
    <p:sldId id="263" r:id="rId10"/>
    <p:sldId id="264" r:id="rId11"/>
    <p:sldId id="266" r:id="rId12"/>
    <p:sldId id="267" r:id="rId13"/>
    <p:sldId id="269"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3" autoAdjust="0"/>
    <p:restoredTop sz="94660"/>
  </p:normalViewPr>
  <p:slideViewPr>
    <p:cSldViewPr snapToGrid="0">
      <p:cViewPr varScale="1">
        <p:scale>
          <a:sx n="79" d="100"/>
          <a:sy n="79" d="100"/>
        </p:scale>
        <p:origin x="162"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2B7EF94-BD5F-4324-BB5D-A8CBE2B03601}" type="datetimeFigureOut">
              <a:rPr lang="en-US" smtClean="0"/>
              <a:t>3/20/2018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3177003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B7EF94-BD5F-4324-BB5D-A8CBE2B03601}" type="datetimeFigureOut">
              <a:rPr lang="en-US" smtClean="0"/>
              <a:t>3/20/2018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2341348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2B7EF94-BD5F-4324-BB5D-A8CBE2B03601}" type="datetimeFigureOut">
              <a:rPr lang="en-US" smtClean="0"/>
              <a:t>3/20/2018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1404707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2B7EF94-BD5F-4324-BB5D-A8CBE2B03601}" type="datetimeFigureOut">
              <a:rPr lang="en-US" smtClean="0"/>
              <a:t>3/20/2018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4234782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2B7EF94-BD5F-4324-BB5D-A8CBE2B03601}" type="datetimeFigureOut">
              <a:rPr lang="en-US" smtClean="0"/>
              <a:t>3/20/2018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3846106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2B7EF94-BD5F-4324-BB5D-A8CBE2B03601}" type="datetimeFigureOut">
              <a:rPr lang="en-US" smtClean="0"/>
              <a:t>3/20/2018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1379246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7EF94-BD5F-4324-BB5D-A8CBE2B03601}" type="datetimeFigureOut">
              <a:rPr lang="en-US" smtClean="0"/>
              <a:t>3/20/2018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1801887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B7EF94-BD5F-4324-BB5D-A8CBE2B03601}" type="datetimeFigureOut">
              <a:rPr lang="en-US" smtClean="0"/>
              <a:t>3/20/2018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32497643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2B7EF94-BD5F-4324-BB5D-A8CBE2B03601}" type="datetimeFigureOut">
              <a:rPr lang="en-US" smtClean="0"/>
              <a:t>3/20/2018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235733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B7EF94-BD5F-4324-BB5D-A8CBE2B03601}" type="datetimeFigureOut">
              <a:rPr lang="en-US" smtClean="0"/>
              <a:t>3/20/2018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3242124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2B7EF94-BD5F-4324-BB5D-A8CBE2B03601}" type="datetimeFigureOut">
              <a:rPr lang="en-US" smtClean="0"/>
              <a:t>3/20/2018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365F75-B121-48DA-AE4B-A1E154E1A53A}" type="slidenum">
              <a:rPr lang="en-US" smtClean="0"/>
              <a:t>‹#›</a:t>
            </a:fld>
            <a:endParaRPr lang="en-US"/>
          </a:p>
        </p:txBody>
      </p:sp>
    </p:spTree>
    <p:extLst>
      <p:ext uri="{BB962C8B-B14F-4D97-AF65-F5344CB8AC3E}">
        <p14:creationId xmlns:p14="http://schemas.microsoft.com/office/powerpoint/2010/main" val="4169809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B7EF94-BD5F-4324-BB5D-A8CBE2B03601}" type="datetimeFigureOut">
              <a:rPr lang="en-US" smtClean="0"/>
              <a:t>3/20/2018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365F75-B121-48DA-AE4B-A1E154E1A53A}" type="slidenum">
              <a:rPr lang="en-US" smtClean="0"/>
              <a:t>‹#›</a:t>
            </a:fld>
            <a:endParaRPr lang="en-US"/>
          </a:p>
        </p:txBody>
      </p:sp>
    </p:spTree>
    <p:extLst>
      <p:ext uri="{BB962C8B-B14F-4D97-AF65-F5344CB8AC3E}">
        <p14:creationId xmlns:p14="http://schemas.microsoft.com/office/powerpoint/2010/main" val="15213346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7952" y="158497"/>
            <a:ext cx="11460480" cy="6388607"/>
          </a:xfrm>
        </p:spPr>
        <p:txBody>
          <a:bodyPr>
            <a:normAutofit/>
          </a:bodyPr>
          <a:lstStyle/>
          <a:p>
            <a:r>
              <a:rPr lang="en-US" sz="3200" b="1" dirty="0" smtClean="0">
                <a:latin typeface="Times New Roman" panose="02020603050405020304" pitchFamily="18" charset="0"/>
                <a:cs typeface="Times New Roman" panose="02020603050405020304" pitchFamily="18" charset="0"/>
              </a:rPr>
              <a:t>A SEMINAR ON</a:t>
            </a:r>
            <a:br>
              <a:rPr lang="en-US" sz="3200" b="1" dirty="0" smtClean="0">
                <a:latin typeface="Times New Roman" panose="02020603050405020304" pitchFamily="18" charset="0"/>
                <a:cs typeface="Times New Roman" panose="02020603050405020304" pitchFamily="18" charset="0"/>
              </a:rPr>
            </a:br>
            <a:r>
              <a:rPr lang="en-US" sz="3200" b="1" dirty="0" smtClean="0">
                <a:latin typeface="Times New Roman" panose="02020603050405020304" pitchFamily="18" charset="0"/>
                <a:cs typeface="Times New Roman" panose="02020603050405020304" pitchFamily="18" charset="0"/>
              </a:rPr>
              <a:t>DEVELOPMENT OF INERTIA AND PRIMARY FREQUENCY CONTROLLERS FOR BRUSHLESS DOUBLY FED RELUCTANCE GENERATOR FOR WIND APPLICATIONS</a:t>
            </a:r>
            <a:br>
              <a:rPr lang="en-US" sz="3200" b="1" dirty="0" smtClean="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a:r>
            <a:br>
              <a:rPr lang="en-US" sz="3200" b="1" dirty="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BY</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NAME: </a:t>
            </a:r>
            <a:r>
              <a:rPr lang="en-US" sz="2400" b="1" dirty="0" smtClean="0">
                <a:latin typeface="Times New Roman" panose="02020603050405020304" pitchFamily="18" charset="0"/>
                <a:cs typeface="Times New Roman" panose="02020603050405020304" pitchFamily="18" charset="0"/>
              </a:rPr>
              <a:t>OKORIE KELECHI</a:t>
            </a:r>
            <a:br>
              <a:rPr lang="en-US" sz="2400" b="1" dirty="0" smtClean="0">
                <a:latin typeface="Times New Roman" panose="02020603050405020304" pitchFamily="18" charset="0"/>
                <a:cs typeface="Times New Roman" panose="02020603050405020304" pitchFamily="18" charset="0"/>
              </a:rPr>
            </a:br>
            <a:r>
              <a:rPr lang="en-US" sz="2400" dirty="0" err="1" smtClean="0">
                <a:latin typeface="Times New Roman" panose="02020603050405020304" pitchFamily="18" charset="0"/>
                <a:cs typeface="Times New Roman" panose="02020603050405020304" pitchFamily="18" charset="0"/>
              </a:rPr>
              <a:t>REG</a:t>
            </a:r>
            <a:r>
              <a:rPr lang="en-US" sz="2400" dirty="0" smtClean="0">
                <a:latin typeface="Times New Roman" panose="02020603050405020304" pitchFamily="18" charset="0"/>
                <a:cs typeface="Times New Roman" panose="02020603050405020304" pitchFamily="18" charset="0"/>
              </a:rPr>
              <a:t> NO: </a:t>
            </a:r>
            <a:r>
              <a:rPr lang="en-US" sz="2400" b="1" dirty="0" smtClean="0">
                <a:latin typeface="Times New Roman" panose="02020603050405020304" pitchFamily="18" charset="0"/>
                <a:cs typeface="Times New Roman" panose="02020603050405020304" pitchFamily="18" charset="0"/>
              </a:rPr>
              <a:t>20154987028</a:t>
            </a:r>
            <a:br>
              <a:rPr lang="en-US" sz="2400" b="1" dirty="0" smtClean="0">
                <a:latin typeface="Times New Roman" panose="02020603050405020304" pitchFamily="18" charset="0"/>
                <a:cs typeface="Times New Roman" panose="02020603050405020304" pitchFamily="18" charset="0"/>
              </a:rPr>
            </a:br>
            <a:r>
              <a:rPr lang="en-US" sz="2400" b="1" dirty="0" smtClean="0">
                <a:latin typeface="Times New Roman" panose="02020603050405020304" pitchFamily="18" charset="0"/>
                <a:cs typeface="Times New Roman" panose="02020603050405020304" pitchFamily="18" charset="0"/>
              </a:rPr>
              <a:t/>
            </a:r>
            <a:br>
              <a:rPr lang="en-US" sz="2400" b="1"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PRESENTED TO</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r>
            <a:br>
              <a:rPr lang="en-US" sz="2400" dirty="0" smtClean="0">
                <a:latin typeface="Times New Roman" panose="02020603050405020304" pitchFamily="18" charset="0"/>
                <a:cs typeface="Times New Roman" panose="02020603050405020304" pitchFamily="18" charset="0"/>
              </a:rPr>
            </a:br>
            <a:r>
              <a:rPr lang="en-US" sz="2400" b="1" dirty="0" smtClean="0">
                <a:latin typeface="Times New Roman" panose="02020603050405020304" pitchFamily="18" charset="0"/>
                <a:cs typeface="Times New Roman" panose="02020603050405020304" pitchFamily="18" charset="0"/>
              </a:rPr>
              <a:t>THE DEPARTMENT OF ELECTRICAL AND ELECTRONIC ENGINEERING </a:t>
            </a:r>
            <a:r>
              <a:rPr lang="en-US" sz="2400" b="1" dirty="0" err="1" smtClean="0">
                <a:latin typeface="Times New Roman" panose="02020603050405020304" pitchFamily="18" charset="0"/>
                <a:cs typeface="Times New Roman" panose="02020603050405020304" pitchFamily="18" charset="0"/>
              </a:rPr>
              <a:t>FUTO</a:t>
            </a:r>
            <a:r>
              <a:rPr lang="en-US" sz="2400" b="1" dirty="0" smtClean="0">
                <a:latin typeface="Times New Roman" panose="02020603050405020304" pitchFamily="18" charset="0"/>
                <a:cs typeface="Times New Roman" panose="02020603050405020304" pitchFamily="18" charset="0"/>
              </a:rPr>
              <a:t> IN PARTIAL </a:t>
            </a:r>
            <a:r>
              <a:rPr lang="en-US" sz="2400" b="1" dirty="0" err="1" smtClean="0">
                <a:latin typeface="Times New Roman" panose="02020603050405020304" pitchFamily="18" charset="0"/>
                <a:cs typeface="Times New Roman" panose="02020603050405020304" pitchFamily="18" charset="0"/>
              </a:rPr>
              <a:t>FUFILLMENT</a:t>
            </a:r>
            <a:r>
              <a:rPr lang="en-US" sz="2400" b="1" dirty="0" smtClean="0">
                <a:latin typeface="Times New Roman" panose="02020603050405020304" pitchFamily="18" charset="0"/>
                <a:cs typeface="Times New Roman" panose="02020603050405020304" pitchFamily="18" charset="0"/>
              </a:rPr>
              <a:t> OF THE REQUIREMENTS FOR THE AWARD OF MASTERS DEGREE (</a:t>
            </a:r>
            <a:r>
              <a:rPr lang="en-US" sz="2400" b="1" dirty="0" err="1" smtClean="0">
                <a:latin typeface="Times New Roman" panose="02020603050405020304" pitchFamily="18" charset="0"/>
                <a:cs typeface="Times New Roman" panose="02020603050405020304" pitchFamily="18" charset="0"/>
              </a:rPr>
              <a:t>M.ENG</a:t>
            </a:r>
            <a:r>
              <a:rPr lang="en-US" sz="2400" b="1" dirty="0" smtClean="0">
                <a:latin typeface="Times New Roman" panose="02020603050405020304" pitchFamily="18" charset="0"/>
                <a:cs typeface="Times New Roman" panose="02020603050405020304" pitchFamily="18" charset="0"/>
              </a:rPr>
              <a:t>) IN CONTROL SYSTEMS ENGINEERING</a:t>
            </a:r>
            <a:br>
              <a:rPr lang="en-US" sz="2400" b="1" dirty="0" smtClean="0">
                <a:latin typeface="Times New Roman" panose="02020603050405020304" pitchFamily="18" charset="0"/>
                <a:cs typeface="Times New Roman" panose="02020603050405020304" pitchFamily="18" charset="0"/>
              </a:rPr>
            </a:br>
            <a:r>
              <a:rPr lang="en-US" sz="2400" b="1" dirty="0" smtClean="0">
                <a:latin typeface="Times New Roman" panose="02020603050405020304" pitchFamily="18" charset="0"/>
                <a:cs typeface="Times New Roman" panose="02020603050405020304" pitchFamily="18" charset="0"/>
              </a:rPr>
              <a:t>SUPERVISOR: </a:t>
            </a:r>
            <a:r>
              <a:rPr lang="en-US" sz="2400" b="1" dirty="0" err="1" smtClean="0">
                <a:latin typeface="Times New Roman" panose="02020603050405020304" pitchFamily="18" charset="0"/>
                <a:cs typeface="Times New Roman" panose="02020603050405020304" pitchFamily="18" charset="0"/>
              </a:rPr>
              <a:t>DR</a:t>
            </a:r>
            <a:r>
              <a:rPr lang="en-US" sz="2400" b="1" dirty="0" smtClean="0">
                <a:latin typeface="Times New Roman" panose="02020603050405020304" pitchFamily="18" charset="0"/>
                <a:cs typeface="Times New Roman" panose="02020603050405020304" pitchFamily="18" charset="0"/>
              </a:rPr>
              <a:t> </a:t>
            </a:r>
            <a:r>
              <a:rPr lang="en-US" sz="2400" b="1" dirty="0" err="1" smtClean="0">
                <a:latin typeface="Times New Roman" panose="02020603050405020304" pitchFamily="18" charset="0"/>
                <a:cs typeface="Times New Roman" panose="02020603050405020304" pitchFamily="18" charset="0"/>
              </a:rPr>
              <a:t>OBICHERE</a:t>
            </a:r>
            <a:r>
              <a:rPr lang="en-US" sz="2400" b="1" dirty="0" smtClean="0">
                <a:latin typeface="Times New Roman" panose="02020603050405020304" pitchFamily="18" charset="0"/>
                <a:cs typeface="Times New Roman" panose="02020603050405020304" pitchFamily="18" charset="0"/>
              </a:rPr>
              <a:t> J. K.</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48326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1649"/>
            <a:ext cx="10515600" cy="1109472"/>
          </a:xfrm>
        </p:spPr>
        <p:txBody>
          <a:bodyPr/>
          <a:lstStyle/>
          <a:p>
            <a:pPr algn="ctr"/>
            <a:r>
              <a:rPr lang="en-US" sz="4800" b="1" u="sng" smtClean="0"/>
              <a:t>OUTLINE</a:t>
            </a:r>
            <a:endParaRPr lang="en-US" sz="4800" b="1" u="sng"/>
          </a:p>
        </p:txBody>
      </p:sp>
      <p:sp>
        <p:nvSpPr>
          <p:cNvPr id="3" name="Content Placeholder 2"/>
          <p:cNvSpPr>
            <a:spLocks noGrp="1"/>
          </p:cNvSpPr>
          <p:nvPr>
            <p:ph idx="1"/>
          </p:nvPr>
        </p:nvSpPr>
        <p:spPr>
          <a:xfrm>
            <a:off x="838200" y="1584960"/>
            <a:ext cx="10515600" cy="4592003"/>
          </a:xfrm>
        </p:spPr>
        <p:txBody>
          <a:bodyPr>
            <a:normAutofit lnSpcReduction="10000"/>
          </a:bodyPr>
          <a:lstStyle/>
          <a:p>
            <a:pPr>
              <a:buFont typeface="Wingdings" panose="05000000000000000000" pitchFamily="2" charset="2"/>
              <a:buChar char="Ø"/>
            </a:pPr>
            <a:r>
              <a:rPr lang="en-US" sz="3600" b="1" dirty="0" smtClean="0"/>
              <a:t>INTRODUCTION / BACKGROUND OF STUDY</a:t>
            </a:r>
          </a:p>
          <a:p>
            <a:pPr>
              <a:buFont typeface="Wingdings" panose="05000000000000000000" pitchFamily="2" charset="2"/>
              <a:buChar char="Ø"/>
            </a:pPr>
            <a:r>
              <a:rPr lang="en-US" sz="3600" b="1" dirty="0" smtClean="0"/>
              <a:t>PROBLEM STATEMENT</a:t>
            </a:r>
          </a:p>
          <a:p>
            <a:pPr>
              <a:buFont typeface="Wingdings" panose="05000000000000000000" pitchFamily="2" charset="2"/>
              <a:buChar char="Ø"/>
            </a:pPr>
            <a:r>
              <a:rPr lang="en-US" sz="3600" b="1" dirty="0" smtClean="0"/>
              <a:t>AIM AND OBJECTIVE</a:t>
            </a:r>
          </a:p>
          <a:p>
            <a:pPr>
              <a:buFont typeface="Wingdings" panose="05000000000000000000" pitchFamily="2" charset="2"/>
              <a:buChar char="Ø"/>
            </a:pPr>
            <a:r>
              <a:rPr lang="en-US" sz="3600" b="1" dirty="0" smtClean="0"/>
              <a:t>JUSTIFICATION OF STUDY</a:t>
            </a:r>
          </a:p>
          <a:p>
            <a:pPr>
              <a:buFont typeface="Wingdings" panose="05000000000000000000" pitchFamily="2" charset="2"/>
              <a:buChar char="Ø"/>
            </a:pPr>
            <a:r>
              <a:rPr lang="en-US" sz="3600" b="1" dirty="0" smtClean="0"/>
              <a:t>SCOPE OF STUDY</a:t>
            </a:r>
          </a:p>
          <a:p>
            <a:pPr>
              <a:buFont typeface="Wingdings" panose="05000000000000000000" pitchFamily="2" charset="2"/>
              <a:buChar char="Ø"/>
            </a:pPr>
            <a:r>
              <a:rPr lang="en-US" sz="3600" b="1" dirty="0" smtClean="0"/>
              <a:t>LITERATURE REVIEW</a:t>
            </a:r>
          </a:p>
          <a:p>
            <a:pPr>
              <a:buFont typeface="Wingdings" panose="05000000000000000000" pitchFamily="2" charset="2"/>
              <a:buChar char="Ø"/>
            </a:pPr>
            <a:r>
              <a:rPr lang="en-US" sz="3600" b="1" dirty="0" smtClean="0"/>
              <a:t>MATERIALS AND METHOD</a:t>
            </a:r>
          </a:p>
          <a:p>
            <a:pPr>
              <a:buFont typeface="Wingdings" panose="05000000000000000000" pitchFamily="2" charset="2"/>
              <a:buChar char="Ø"/>
            </a:pPr>
            <a:r>
              <a:rPr lang="en-US" sz="3600" b="1" dirty="0" smtClean="0"/>
              <a:t>CONCLUSION</a:t>
            </a:r>
            <a:endParaRPr lang="en-US" sz="3600" b="1" dirty="0"/>
          </a:p>
        </p:txBody>
      </p:sp>
    </p:spTree>
    <p:extLst>
      <p:ext uri="{BB962C8B-B14F-4D97-AF65-F5344CB8AC3E}">
        <p14:creationId xmlns:p14="http://schemas.microsoft.com/office/powerpoint/2010/main" val="3493004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053"/>
            <a:ext cx="10515600" cy="1012571"/>
          </a:xfrm>
        </p:spPr>
        <p:txBody>
          <a:bodyPr/>
          <a:lstStyle/>
          <a:p>
            <a:pPr algn="ctr"/>
            <a:r>
              <a:rPr lang="en-US" dirty="0" smtClean="0"/>
              <a:t>INTRODUCTION/BACKGROUND OF STUDY</a:t>
            </a:r>
            <a:endParaRPr lang="en-US" dirty="0"/>
          </a:p>
        </p:txBody>
      </p:sp>
      <p:sp>
        <p:nvSpPr>
          <p:cNvPr id="3" name="Content Placeholder 2"/>
          <p:cNvSpPr>
            <a:spLocks noGrp="1"/>
          </p:cNvSpPr>
          <p:nvPr>
            <p:ph idx="1"/>
          </p:nvPr>
        </p:nvSpPr>
        <p:spPr>
          <a:xfrm>
            <a:off x="838200" y="1182624"/>
            <a:ext cx="10515600" cy="5218175"/>
          </a:xfrm>
        </p:spPr>
        <p:txBody>
          <a:bodyPr>
            <a:normAutofit/>
          </a:bodyPr>
          <a:lstStyle/>
          <a:p>
            <a:pPr>
              <a:buFont typeface="Wingdings" panose="05000000000000000000" pitchFamily="2" charset="2"/>
              <a:buChar char="Ø"/>
            </a:pPr>
            <a:r>
              <a:rPr lang="en-US" dirty="0" smtClean="0"/>
              <a:t>Wind energy has been an essential source of energy for mankind for about 3000 years now</a:t>
            </a:r>
          </a:p>
          <a:p>
            <a:pPr>
              <a:buFont typeface="Wingdings" panose="05000000000000000000" pitchFamily="2" charset="2"/>
              <a:buChar char="Ø"/>
            </a:pPr>
            <a:r>
              <a:rPr lang="en-US" dirty="0" smtClean="0"/>
              <a:t>Conventional energy sources (fossil fuels and nuclear) have been at the forefront of energy, especially electric energy, generation because they are more attractive</a:t>
            </a:r>
          </a:p>
          <a:p>
            <a:pPr>
              <a:buFont typeface="Wingdings" panose="05000000000000000000" pitchFamily="2" charset="2"/>
              <a:buChar char="Ø"/>
            </a:pPr>
            <a:r>
              <a:rPr lang="en-US" dirty="0" smtClean="0"/>
              <a:t>Conventional energy sources emit green house gasses and can lead to nuclear leakage thereby causing pollution</a:t>
            </a:r>
          </a:p>
          <a:p>
            <a:pPr>
              <a:buFont typeface="Wingdings" panose="05000000000000000000" pitchFamily="2" charset="2"/>
              <a:buChar char="Ø"/>
            </a:pPr>
            <a:r>
              <a:rPr lang="en-US" dirty="0" smtClean="0"/>
              <a:t>There is also fear of possible depletion of fossil fuel in the future</a:t>
            </a:r>
          </a:p>
          <a:p>
            <a:pPr>
              <a:buFont typeface="Wingdings" panose="05000000000000000000" pitchFamily="2" charset="2"/>
              <a:buChar char="Ø"/>
            </a:pPr>
            <a:r>
              <a:rPr lang="en-US" dirty="0" smtClean="0"/>
              <a:t>Because of the growing need for more energy and the potential dangers of conventional energy sources, there is an urgent need for clean and renewable energy sources and the gradual retirement of conventional energy sources</a:t>
            </a:r>
            <a:endParaRPr lang="en-US" dirty="0"/>
          </a:p>
        </p:txBody>
      </p:sp>
    </p:spTree>
    <p:extLst>
      <p:ext uri="{BB962C8B-B14F-4D97-AF65-F5344CB8AC3E}">
        <p14:creationId xmlns:p14="http://schemas.microsoft.com/office/powerpoint/2010/main" val="28587433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BACKGROUND OF STUDY CONTD.</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t>Renewable/clean energy sources include wind energy, solar energy, hydro energy, geothermal energy, </a:t>
            </a:r>
            <a:r>
              <a:rPr lang="en-US" dirty="0" err="1" smtClean="0"/>
              <a:t>e.t.c</a:t>
            </a:r>
            <a:r>
              <a:rPr lang="en-US" dirty="0" smtClean="0"/>
              <a:t>.</a:t>
            </a:r>
          </a:p>
          <a:p>
            <a:pPr>
              <a:buFont typeface="Wingdings" panose="05000000000000000000" pitchFamily="2" charset="2"/>
              <a:buChar char="Ø"/>
            </a:pPr>
            <a:r>
              <a:rPr lang="en-US" dirty="0" smtClean="0"/>
              <a:t>These energy sources are clean and do not cause pollution to the environment are now the fastest-growing sources.</a:t>
            </a:r>
          </a:p>
          <a:p>
            <a:pPr>
              <a:buFont typeface="Wingdings" panose="05000000000000000000" pitchFamily="2" charset="2"/>
              <a:buChar char="Ø"/>
            </a:pPr>
            <a:r>
              <a:rPr lang="en-US" dirty="0" smtClean="0"/>
              <a:t>Wind energy in particular has been used to create electric energy and have been connected to various electric grids</a:t>
            </a:r>
          </a:p>
          <a:p>
            <a:pPr>
              <a:buFont typeface="Wingdings" panose="05000000000000000000" pitchFamily="2" charset="2"/>
              <a:buChar char="Ø"/>
            </a:pPr>
            <a:r>
              <a:rPr lang="en-US" dirty="0" smtClean="0"/>
              <a:t>However, they are some problems associated with connecting wind energy to the grid</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11152959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497"/>
            <a:ext cx="10515600" cy="1414271"/>
          </a:xfrm>
        </p:spPr>
        <p:txBody>
          <a:bodyPr/>
          <a:lstStyle/>
          <a:p>
            <a:pPr algn="ctr"/>
            <a:r>
              <a:rPr lang="en-US" dirty="0" smtClean="0"/>
              <a:t>PROBLEM STATEMENT</a:t>
            </a:r>
            <a:endParaRPr lang="en-US" dirty="0"/>
          </a:p>
        </p:txBody>
      </p:sp>
      <p:sp>
        <p:nvSpPr>
          <p:cNvPr id="3" name="Content Placeholder 2"/>
          <p:cNvSpPr>
            <a:spLocks noGrp="1"/>
          </p:cNvSpPr>
          <p:nvPr>
            <p:ph idx="1"/>
          </p:nvPr>
        </p:nvSpPr>
        <p:spPr>
          <a:xfrm>
            <a:off x="838200" y="1341120"/>
            <a:ext cx="10515600" cy="5169408"/>
          </a:xfrm>
        </p:spPr>
        <p:txBody>
          <a:bodyPr>
            <a:normAutofit/>
          </a:bodyPr>
          <a:lstStyle/>
          <a:p>
            <a:endParaRPr lang="en-US" dirty="0" smtClean="0"/>
          </a:p>
          <a:p>
            <a:pPr>
              <a:buFont typeface="Wingdings" panose="05000000000000000000" pitchFamily="2" charset="2"/>
              <a:buChar char="Ø"/>
            </a:pPr>
            <a:r>
              <a:rPr lang="en-US" dirty="0" smtClean="0"/>
              <a:t>The grid is gradually moving from synchronous and rotating machine based to inverter based</a:t>
            </a:r>
          </a:p>
          <a:p>
            <a:pPr>
              <a:buFont typeface="Wingdings" panose="05000000000000000000" pitchFamily="2" charset="2"/>
              <a:buChar char="Ø"/>
            </a:pPr>
            <a:r>
              <a:rPr lang="en-US" dirty="0" smtClean="0"/>
              <a:t>Due to the variability of wind speed, wind turbines are de-coupled from the grid by the use of AC-DC-AC converters.</a:t>
            </a:r>
          </a:p>
          <a:p>
            <a:pPr>
              <a:buFont typeface="Wingdings" panose="05000000000000000000" pitchFamily="2" charset="2"/>
              <a:buChar char="Ø"/>
            </a:pPr>
            <a:r>
              <a:rPr lang="en-US" dirty="0" smtClean="0"/>
              <a:t>The synchronous and rotating machines provided inertia and primary frequency response during frequency events due their rotating masses which have inertia and their primary frequency controllers.</a:t>
            </a:r>
          </a:p>
          <a:p>
            <a:pPr>
              <a:buFont typeface="Wingdings" panose="05000000000000000000" pitchFamily="2" charset="2"/>
              <a:buChar char="Ø"/>
            </a:pPr>
            <a:r>
              <a:rPr lang="en-US" dirty="0" smtClean="0"/>
              <a:t>A major issue in wind energy integration into the grid is the provision of frequency response by wind turbines since their rotating masses are decoupled from the grid</a:t>
            </a:r>
            <a:endParaRPr lang="en-US" dirty="0"/>
          </a:p>
        </p:txBody>
      </p:sp>
    </p:spTree>
    <p:extLst>
      <p:ext uri="{BB962C8B-B14F-4D97-AF65-F5344CB8AC3E}">
        <p14:creationId xmlns:p14="http://schemas.microsoft.com/office/powerpoint/2010/main" val="4239014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Frequency Event / Frequency Response</a:t>
            </a:r>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0848" y="1825625"/>
            <a:ext cx="8851392" cy="4351338"/>
          </a:xfrm>
        </p:spPr>
      </p:pic>
    </p:spTree>
    <p:extLst>
      <p:ext uri="{BB962C8B-B14F-4D97-AF65-F5344CB8AC3E}">
        <p14:creationId xmlns:p14="http://schemas.microsoft.com/office/powerpoint/2010/main" val="3097342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9456"/>
            <a:ext cx="10515600" cy="1178624"/>
          </a:xfrm>
        </p:spPr>
        <p:txBody>
          <a:bodyPr/>
          <a:lstStyle/>
          <a:p>
            <a:pPr algn="ctr"/>
            <a:r>
              <a:rPr lang="en-US" dirty="0" smtClean="0"/>
              <a:t>AIMS AND OBJECTIVES</a:t>
            </a:r>
            <a:endParaRPr lang="en-US" dirty="0"/>
          </a:p>
        </p:txBody>
      </p:sp>
      <p:sp>
        <p:nvSpPr>
          <p:cNvPr id="3" name="Content Placeholder 2"/>
          <p:cNvSpPr>
            <a:spLocks noGrp="1"/>
          </p:cNvSpPr>
          <p:nvPr>
            <p:ph idx="1"/>
          </p:nvPr>
        </p:nvSpPr>
        <p:spPr>
          <a:xfrm>
            <a:off x="838200" y="1398080"/>
            <a:ext cx="10515600" cy="5149024"/>
          </a:xfrm>
        </p:spPr>
        <p:txBody>
          <a:bodyPr>
            <a:normAutofit/>
          </a:bodyPr>
          <a:lstStyle/>
          <a:p>
            <a:pPr>
              <a:buFont typeface="Wingdings" panose="05000000000000000000" pitchFamily="2" charset="2"/>
              <a:buChar char="Ø"/>
            </a:pPr>
            <a:r>
              <a:rPr lang="en-US" dirty="0" smtClean="0"/>
              <a:t>The primary objective of this work is to develop and inertia and primary frequency controllers for grid connected Brushless Doubly Fed Reluctance Generator (</a:t>
            </a:r>
            <a:r>
              <a:rPr lang="en-US" dirty="0" err="1" smtClean="0"/>
              <a:t>BDFRG</a:t>
            </a:r>
            <a:r>
              <a:rPr lang="en-US" dirty="0" smtClean="0"/>
              <a:t>) wind turbine</a:t>
            </a:r>
          </a:p>
          <a:p>
            <a:pPr marL="0" indent="0" algn="ctr">
              <a:buNone/>
            </a:pPr>
            <a:r>
              <a:rPr lang="en-US" dirty="0" smtClean="0"/>
              <a:t>Secondary objectives include the following</a:t>
            </a:r>
          </a:p>
          <a:p>
            <a:pPr>
              <a:buFont typeface="Wingdings" panose="05000000000000000000" pitchFamily="2" charset="2"/>
              <a:buChar char="q"/>
            </a:pPr>
            <a:r>
              <a:rPr lang="en-US" dirty="0" smtClean="0"/>
              <a:t>To increase wind energy penetration limit</a:t>
            </a:r>
          </a:p>
          <a:p>
            <a:pPr>
              <a:buFont typeface="Wingdings" panose="05000000000000000000" pitchFamily="2" charset="2"/>
              <a:buChar char="q"/>
            </a:pPr>
            <a:r>
              <a:rPr lang="en-US" dirty="0" smtClean="0"/>
              <a:t>Determination of the effect of parameter selection on the controllers</a:t>
            </a:r>
          </a:p>
          <a:p>
            <a:pPr>
              <a:buFont typeface="Wingdings" panose="05000000000000000000" pitchFamily="2" charset="2"/>
              <a:buChar char="q"/>
            </a:pPr>
            <a:r>
              <a:rPr lang="en-US" dirty="0" smtClean="0"/>
              <a:t>To determine the appropriate level of power reserve for brushless doubly fed reluctance generator to participate in grid frequency stabilization</a:t>
            </a:r>
          </a:p>
          <a:p>
            <a:pPr>
              <a:buFont typeface="Wingdings" panose="05000000000000000000" pitchFamily="2" charset="2"/>
              <a:buChar char="q"/>
            </a:pPr>
            <a:r>
              <a:rPr lang="en-US" dirty="0" smtClean="0"/>
              <a:t>Test the system using constant and variable wind speed condition</a:t>
            </a:r>
            <a:endParaRPr lang="en-US" dirty="0"/>
          </a:p>
        </p:txBody>
      </p:sp>
    </p:spTree>
    <p:extLst>
      <p:ext uri="{BB962C8B-B14F-4D97-AF65-F5344CB8AC3E}">
        <p14:creationId xmlns:p14="http://schemas.microsoft.com/office/powerpoint/2010/main" val="154133629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JUSTIFICATION</a:t>
            </a:r>
            <a:endParaRPr lang="en-US" dirty="0"/>
          </a:p>
        </p:txBody>
      </p:sp>
      <p:sp>
        <p:nvSpPr>
          <p:cNvPr id="3" name="Content Placeholder 2"/>
          <p:cNvSpPr>
            <a:spLocks noGrp="1"/>
          </p:cNvSpPr>
          <p:nvPr>
            <p:ph idx="1"/>
          </p:nvPr>
        </p:nvSpPr>
        <p:spPr>
          <a:xfrm>
            <a:off x="838200" y="1463040"/>
            <a:ext cx="10515600" cy="5205983"/>
          </a:xfrm>
        </p:spPr>
        <p:txBody>
          <a:bodyPr/>
          <a:lstStyle/>
          <a:p>
            <a:pPr>
              <a:buFont typeface="Wingdings" panose="05000000000000000000" pitchFamily="2" charset="2"/>
              <a:buChar char="Ø"/>
            </a:pPr>
            <a:r>
              <a:rPr lang="en-US" dirty="0" smtClean="0"/>
              <a:t>Renewable energy sources are currently dominating the energy mix, and replacing the traditional generation sources</a:t>
            </a:r>
          </a:p>
          <a:p>
            <a:pPr>
              <a:buFont typeface="Wingdings" panose="05000000000000000000" pitchFamily="2" charset="2"/>
              <a:buChar char="Ø"/>
            </a:pPr>
            <a:r>
              <a:rPr lang="en-US" dirty="0" smtClean="0"/>
              <a:t>High penetration of renewable energy sources like wind energy into the grid without appropriate provision of Frequency control ancillary service from this wind turbines could lead to grid instability which could cause generator trip and under frequency load shedding.</a:t>
            </a:r>
          </a:p>
          <a:p>
            <a:pPr>
              <a:buFont typeface="Wingdings" panose="05000000000000000000" pitchFamily="2" charset="2"/>
              <a:buChar char="Ø"/>
            </a:pPr>
            <a:r>
              <a:rPr lang="en-US" dirty="0" smtClean="0"/>
              <a:t>High penetration of renewable energy like wind energy into the grid should be encouraged because it emits no dangerous gasses and as such improves public health</a:t>
            </a:r>
          </a:p>
          <a:p>
            <a:pPr>
              <a:buFont typeface="Wingdings" panose="05000000000000000000" pitchFamily="2" charset="2"/>
              <a:buChar char="Ø"/>
            </a:pPr>
            <a:r>
              <a:rPr lang="en-US" dirty="0" smtClean="0"/>
              <a:t>Renewable energy sources would lead to cheaper electricity since wind energy is almost free except for the initial setup cost, thereby having huge economic benefit</a:t>
            </a:r>
            <a:endParaRPr lang="en-US" dirty="0"/>
          </a:p>
        </p:txBody>
      </p:sp>
    </p:spTree>
    <p:extLst>
      <p:ext uri="{BB962C8B-B14F-4D97-AF65-F5344CB8AC3E}">
        <p14:creationId xmlns:p14="http://schemas.microsoft.com/office/powerpoint/2010/main" val="18804301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SCOPE OF THE STUDY</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t>Developing an inertia and primary controller for Wind Energy Conversion Systems (</a:t>
            </a:r>
            <a:r>
              <a:rPr lang="en-US" dirty="0" err="1" smtClean="0"/>
              <a:t>WECS</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smtClean="0"/>
              <a:t>The controller is develop only for grid-connected Brushless Doubly Fed Reluctance Generator Wind Turbine</a:t>
            </a:r>
          </a:p>
          <a:p>
            <a:pPr>
              <a:buFont typeface="Wingdings" panose="05000000000000000000" pitchFamily="2" charset="2"/>
              <a:buChar char="Ø"/>
            </a:pPr>
            <a:endParaRPr lang="en-US" dirty="0"/>
          </a:p>
          <a:p>
            <a:pPr>
              <a:buFont typeface="Wingdings" panose="05000000000000000000" pitchFamily="2" charset="2"/>
              <a:buChar char="Ø"/>
            </a:pPr>
            <a:r>
              <a:rPr lang="en-US" dirty="0" smtClean="0"/>
              <a:t>The controller is tested under constant and varying </a:t>
            </a:r>
            <a:r>
              <a:rPr lang="en-US" smtClean="0"/>
              <a:t>wind conditions</a:t>
            </a:r>
            <a:endParaRPr lang="en-US" dirty="0"/>
          </a:p>
        </p:txBody>
      </p:sp>
    </p:spTree>
    <p:extLst>
      <p:ext uri="{BB962C8B-B14F-4D97-AF65-F5344CB8AC3E}">
        <p14:creationId xmlns:p14="http://schemas.microsoft.com/office/powerpoint/2010/main" val="17195747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3816" y="0"/>
            <a:ext cx="10515600" cy="610235"/>
          </a:xfrm>
        </p:spPr>
        <p:txBody>
          <a:bodyPr>
            <a:noAutofit/>
          </a:bodyPr>
          <a:lstStyle/>
          <a:p>
            <a:pPr algn="ctr"/>
            <a:r>
              <a:rPr lang="en-US" dirty="0" smtClean="0"/>
              <a:t>LITERATURE REVIEW</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50687246"/>
              </p:ext>
            </p:extLst>
          </p:nvPr>
        </p:nvGraphicFramePr>
        <p:xfrm>
          <a:off x="207963" y="695198"/>
          <a:ext cx="11825288" cy="7045960"/>
        </p:xfrm>
        <a:graphic>
          <a:graphicData uri="http://schemas.openxmlformats.org/drawingml/2006/table">
            <a:tbl>
              <a:tblPr firstRow="1" bandRow="1">
                <a:tableStyleId>{5C22544A-7EE6-4342-B048-85BDC9FD1C3A}</a:tableStyleId>
              </a:tblPr>
              <a:tblGrid>
                <a:gridCol w="2669349"/>
                <a:gridCol w="2950464"/>
                <a:gridCol w="3249153"/>
                <a:gridCol w="2956322"/>
              </a:tblGrid>
              <a:tr h="370840">
                <a:tc>
                  <a:txBody>
                    <a:bodyPr/>
                    <a:lstStyle/>
                    <a:p>
                      <a:pPr algn="ctr"/>
                      <a:r>
                        <a:rPr lang="en-US" dirty="0" smtClean="0"/>
                        <a:t>AUTHOR</a:t>
                      </a:r>
                      <a:endParaRPr lang="en-US" dirty="0"/>
                    </a:p>
                  </a:txBody>
                  <a:tcPr/>
                </a:tc>
                <a:tc>
                  <a:txBody>
                    <a:bodyPr/>
                    <a:lstStyle/>
                    <a:p>
                      <a:pPr algn="ctr"/>
                      <a:r>
                        <a:rPr lang="en-US" dirty="0" smtClean="0"/>
                        <a:t>TITLE</a:t>
                      </a:r>
                      <a:endParaRPr lang="en-US" dirty="0"/>
                    </a:p>
                  </a:txBody>
                  <a:tcPr/>
                </a:tc>
                <a:tc>
                  <a:txBody>
                    <a:bodyPr/>
                    <a:lstStyle/>
                    <a:p>
                      <a:pPr algn="ctr"/>
                      <a:r>
                        <a:rPr lang="en-US" dirty="0" smtClean="0"/>
                        <a:t>RESULT</a:t>
                      </a:r>
                      <a:endParaRPr lang="en-US" dirty="0"/>
                    </a:p>
                  </a:txBody>
                  <a:tcPr/>
                </a:tc>
                <a:tc>
                  <a:txBody>
                    <a:bodyPr/>
                    <a:lstStyle/>
                    <a:p>
                      <a:pPr algn="ctr"/>
                      <a:r>
                        <a:rPr lang="en-US" dirty="0" smtClean="0"/>
                        <a:t>LIMITATION</a:t>
                      </a:r>
                      <a:endParaRPr lang="en-US" dirty="0"/>
                    </a:p>
                  </a:txBody>
                  <a:tcPr/>
                </a:tc>
              </a:tr>
              <a:tr h="370840">
                <a:tc>
                  <a:txBody>
                    <a:bodyPr/>
                    <a:lstStyle/>
                    <a:p>
                      <a:r>
                        <a:rPr lang="en-US" dirty="0" err="1" smtClean="0"/>
                        <a:t>Ioannis</a:t>
                      </a:r>
                      <a:r>
                        <a:rPr lang="en-US" baseline="0" dirty="0" smtClean="0"/>
                        <a:t> et al., (2012)</a:t>
                      </a:r>
                      <a:endParaRPr lang="en-US" dirty="0"/>
                    </a:p>
                  </a:txBody>
                  <a:tcPr/>
                </a:tc>
                <a:tc>
                  <a:txBody>
                    <a:bodyPr/>
                    <a:lstStyle/>
                    <a:p>
                      <a:r>
                        <a:rPr lang="en-US" dirty="0" smtClean="0"/>
                        <a:t>Frequency</a:t>
                      </a:r>
                      <a:r>
                        <a:rPr lang="en-US" baseline="0" dirty="0" smtClean="0"/>
                        <a:t> Control in Autonomous Power Systems with High Wind Power Penetration</a:t>
                      </a:r>
                      <a:endParaRPr lang="en-US" dirty="0"/>
                    </a:p>
                  </a:txBody>
                  <a:tcPr/>
                </a:tc>
                <a:tc>
                  <a:txBody>
                    <a:bodyPr/>
                    <a:lstStyle/>
                    <a:p>
                      <a:r>
                        <a:rPr lang="en-US" dirty="0" smtClean="0"/>
                        <a:t>It</a:t>
                      </a:r>
                      <a:r>
                        <a:rPr lang="en-US" baseline="0" dirty="0" smtClean="0"/>
                        <a:t> was found that the proposed controller could provided valuable active power support similar to conventional generation during transient events for </a:t>
                      </a:r>
                      <a:r>
                        <a:rPr lang="en-US" baseline="0" dirty="0" err="1" smtClean="0"/>
                        <a:t>DFIG</a:t>
                      </a:r>
                      <a:r>
                        <a:rPr lang="en-US" baseline="0" dirty="0" smtClean="0"/>
                        <a:t> and </a:t>
                      </a:r>
                      <a:r>
                        <a:rPr lang="en-US" baseline="0" dirty="0" err="1" smtClean="0"/>
                        <a:t>PMSG</a:t>
                      </a:r>
                      <a:r>
                        <a:rPr lang="en-US" baseline="0" dirty="0" smtClean="0"/>
                        <a:t> under constant and varying wind conditions.</a:t>
                      </a:r>
                      <a:endParaRPr lang="en-US" dirty="0"/>
                    </a:p>
                  </a:txBody>
                  <a:tcPr/>
                </a:tc>
                <a:tc>
                  <a:txBody>
                    <a:bodyPr/>
                    <a:lstStyle/>
                    <a:p>
                      <a:r>
                        <a:rPr lang="en-US" dirty="0" smtClean="0"/>
                        <a:t>The emerging</a:t>
                      </a:r>
                      <a:r>
                        <a:rPr lang="en-US" baseline="0" dirty="0" smtClean="0"/>
                        <a:t> Brushless Doubly Fed Reluctance Generator was not considered</a:t>
                      </a:r>
                      <a:endParaRPr lang="en-US" dirty="0"/>
                    </a:p>
                  </a:txBody>
                  <a:tcPr/>
                </a:tc>
              </a:tr>
              <a:tr h="370840">
                <a:tc>
                  <a:txBody>
                    <a:bodyPr/>
                    <a:lstStyle/>
                    <a:p>
                      <a:r>
                        <a:rPr lang="en-US" dirty="0" smtClean="0"/>
                        <a:t>Yuan et al., (2016)</a:t>
                      </a:r>
                      <a:endParaRPr lang="en-US" dirty="0"/>
                    </a:p>
                  </a:txBody>
                  <a:tcPr/>
                </a:tc>
                <a:tc>
                  <a:txBody>
                    <a:bodyPr/>
                    <a:lstStyle/>
                    <a:p>
                      <a:r>
                        <a:rPr lang="en-US" dirty="0" smtClean="0"/>
                        <a:t>An Integrated</a:t>
                      </a:r>
                      <a:r>
                        <a:rPr lang="en-US" baseline="0" dirty="0" smtClean="0"/>
                        <a:t> Wind Turbine Controller with Virtual Inertia and Primary Frequency Response for Grid Dynamic Frequency Support</a:t>
                      </a:r>
                      <a:endParaRPr lang="en-US" dirty="0"/>
                    </a:p>
                  </a:txBody>
                  <a:tcPr/>
                </a:tc>
                <a:tc>
                  <a:txBody>
                    <a:bodyPr/>
                    <a:lstStyle/>
                    <a:p>
                      <a:r>
                        <a:rPr lang="en-US" dirty="0" smtClean="0"/>
                        <a:t>Using</a:t>
                      </a:r>
                      <a:r>
                        <a:rPr lang="en-US" baseline="0" dirty="0" smtClean="0"/>
                        <a:t> the proposed system 40% reduction in frequency deviation was achieved by using the proposed inertia and primary frequency controller</a:t>
                      </a:r>
                      <a:endParaRPr lang="en-US" baseline="0" dirty="0"/>
                    </a:p>
                  </a:txBody>
                  <a:tcPr/>
                </a:tc>
                <a:tc>
                  <a:txBody>
                    <a:bodyPr/>
                    <a:lstStyle/>
                    <a:p>
                      <a:r>
                        <a:rPr lang="en-US" dirty="0" smtClean="0"/>
                        <a:t>Only the </a:t>
                      </a:r>
                      <a:r>
                        <a:rPr lang="en-US" dirty="0" err="1" smtClean="0"/>
                        <a:t>DFIG</a:t>
                      </a:r>
                      <a:r>
                        <a:rPr lang="en-US" dirty="0" smtClean="0"/>
                        <a:t> wind turbine was considered</a:t>
                      </a:r>
                      <a:r>
                        <a:rPr lang="en-US" baseline="0" dirty="0" smtClean="0"/>
                        <a:t> and the result was obtained under constant wind conditions</a:t>
                      </a:r>
                      <a:endParaRPr lang="en-US" dirty="0"/>
                    </a:p>
                  </a:txBody>
                  <a:tcPr/>
                </a:tc>
              </a:tr>
              <a:tr h="370840">
                <a:tc>
                  <a:txBody>
                    <a:bodyPr/>
                    <a:lstStyle/>
                    <a:p>
                      <a:r>
                        <a:rPr lang="en-US" dirty="0" err="1" smtClean="0"/>
                        <a:t>Vidyanandan</a:t>
                      </a:r>
                      <a:r>
                        <a:rPr lang="en-US" dirty="0" smtClean="0"/>
                        <a:t> et al., (2013)</a:t>
                      </a:r>
                      <a:endParaRPr lang="en-US" dirty="0"/>
                    </a:p>
                  </a:txBody>
                  <a:tcPr/>
                </a:tc>
                <a:tc>
                  <a:txBody>
                    <a:bodyPr/>
                    <a:lstStyle/>
                    <a:p>
                      <a:r>
                        <a:rPr lang="en-US" dirty="0" smtClean="0"/>
                        <a:t>Primary Frequency Regulation by De-loaded Wind using Variable Droop</a:t>
                      </a:r>
                      <a:endParaRPr lang="en-US" dirty="0"/>
                    </a:p>
                  </a:txBody>
                  <a:tcPr/>
                </a:tc>
                <a:tc>
                  <a:txBody>
                    <a:bodyPr/>
                    <a:lstStyle/>
                    <a:p>
                      <a:r>
                        <a:rPr lang="en-US" dirty="0" smtClean="0"/>
                        <a:t>Variable droop was used for primary frequency response and it was found</a:t>
                      </a:r>
                      <a:r>
                        <a:rPr lang="en-US" baseline="0" dirty="0" smtClean="0"/>
                        <a:t> that variable droop performed better that fixed droop</a:t>
                      </a:r>
                      <a:endParaRPr lang="en-US" dirty="0"/>
                    </a:p>
                  </a:txBody>
                  <a:tcPr/>
                </a:tc>
                <a:tc>
                  <a:txBody>
                    <a:bodyPr/>
                    <a:lstStyle/>
                    <a:p>
                      <a:r>
                        <a:rPr lang="en-US" dirty="0" smtClean="0"/>
                        <a:t>The research was carried</a:t>
                      </a:r>
                      <a:r>
                        <a:rPr lang="en-US" baseline="0" dirty="0" smtClean="0"/>
                        <a:t> out using only the Doubly Fed Induction Generator and research was obtained under constant wind conditions</a:t>
                      </a:r>
                      <a:endParaRPr lang="en-US" dirty="0"/>
                    </a:p>
                  </a:txBody>
                  <a:tcPr/>
                </a:tc>
              </a:tr>
              <a:tr h="370840">
                <a:tc>
                  <a:txBody>
                    <a:bodyPr/>
                    <a:lstStyle/>
                    <a:p>
                      <a:r>
                        <a:rPr lang="en-US" dirty="0" err="1" smtClean="0"/>
                        <a:t>Obichere</a:t>
                      </a:r>
                      <a:r>
                        <a:rPr lang="en-US" dirty="0" smtClean="0"/>
                        <a:t> et al., (2016)</a:t>
                      </a:r>
                      <a:endParaRPr lang="en-US" dirty="0"/>
                    </a:p>
                  </a:txBody>
                  <a:tcPr/>
                </a:tc>
                <a:tc>
                  <a:txBody>
                    <a:bodyPr/>
                    <a:lstStyle/>
                    <a:p>
                      <a:r>
                        <a:rPr lang="en-US" dirty="0" smtClean="0"/>
                        <a:t>Improved Power Factor Controller for Wind Generation and Applications</a:t>
                      </a:r>
                      <a:endParaRPr lang="en-US" dirty="0"/>
                    </a:p>
                  </a:txBody>
                  <a:tcPr/>
                </a:tc>
                <a:tc>
                  <a:txBody>
                    <a:bodyPr/>
                    <a:lstStyle/>
                    <a:p>
                      <a:r>
                        <a:rPr lang="en-US" dirty="0" smtClean="0"/>
                        <a:t>A</a:t>
                      </a:r>
                      <a:r>
                        <a:rPr lang="en-US" baseline="0" dirty="0" smtClean="0"/>
                        <a:t> novel</a:t>
                      </a:r>
                      <a:r>
                        <a:rPr lang="en-US" dirty="0" smtClean="0"/>
                        <a:t> optimum power</a:t>
                      </a:r>
                      <a:r>
                        <a:rPr lang="en-US" baseline="0" dirty="0" smtClean="0"/>
                        <a:t> factor control mechanism was designed for the </a:t>
                      </a:r>
                      <a:r>
                        <a:rPr lang="en-US" baseline="0" dirty="0" err="1" smtClean="0"/>
                        <a:t>BDFRG</a:t>
                      </a:r>
                      <a:r>
                        <a:rPr lang="en-US" baseline="0" dirty="0" smtClean="0"/>
                        <a:t> and the optimum power factor control conditions was met for </a:t>
                      </a:r>
                      <a:r>
                        <a:rPr lang="en-US" baseline="0" dirty="0" err="1" smtClean="0"/>
                        <a:t>BDFRG</a:t>
                      </a:r>
                      <a:r>
                        <a:rPr lang="en-US" baseline="0" dirty="0" smtClean="0"/>
                        <a:t> </a:t>
                      </a:r>
                      <a:endParaRPr lang="en-US" dirty="0"/>
                    </a:p>
                  </a:txBody>
                  <a:tcPr/>
                </a:tc>
                <a:tc>
                  <a:txBody>
                    <a:bodyPr/>
                    <a:lstStyle/>
                    <a:p>
                      <a:r>
                        <a:rPr lang="en-US" dirty="0" smtClean="0"/>
                        <a:t>Inertia response and primary frequency</a:t>
                      </a:r>
                      <a:r>
                        <a:rPr lang="en-US" baseline="0" dirty="0" smtClean="0"/>
                        <a:t> control was not considered</a:t>
                      </a:r>
                      <a:endParaRPr lang="en-US" dirty="0"/>
                    </a:p>
                  </a:txBody>
                  <a:tcPr/>
                </a:tc>
              </a:tr>
            </a:tbl>
          </a:graphicData>
        </a:graphic>
      </p:graphicFrame>
    </p:spTree>
    <p:extLst>
      <p:ext uri="{BB962C8B-B14F-4D97-AF65-F5344CB8AC3E}">
        <p14:creationId xmlns:p14="http://schemas.microsoft.com/office/powerpoint/2010/main" val="22141910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MATERIALS</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t>LAPTOP COMPUTER</a:t>
            </a:r>
          </a:p>
          <a:p>
            <a:pPr>
              <a:buFont typeface="Wingdings" panose="05000000000000000000" pitchFamily="2" charset="2"/>
              <a:buChar char="Ø"/>
            </a:pPr>
            <a:r>
              <a:rPr lang="en-US" dirty="0" err="1" smtClean="0"/>
              <a:t>MATLAB</a:t>
            </a:r>
            <a:r>
              <a:rPr lang="en-US" dirty="0" smtClean="0"/>
              <a:t>/SIMULINK SOFTWARE</a:t>
            </a:r>
          </a:p>
          <a:p>
            <a:pPr>
              <a:buFont typeface="Wingdings" panose="05000000000000000000" pitchFamily="2" charset="2"/>
              <a:buChar char="Ø"/>
            </a:pPr>
            <a:r>
              <a:rPr lang="en-US" dirty="0" smtClean="0"/>
              <a:t>MODEL OF WIND ENERGY CONVERSION SYSTEM</a:t>
            </a:r>
          </a:p>
          <a:p>
            <a:pPr>
              <a:buFont typeface="Wingdings" panose="05000000000000000000" pitchFamily="2" charset="2"/>
              <a:buChar char="Ø"/>
            </a:pPr>
            <a:r>
              <a:rPr lang="en-US" dirty="0" smtClean="0"/>
              <a:t>MODEL OF ELECTRICITY GRID</a:t>
            </a:r>
          </a:p>
          <a:p>
            <a:pPr>
              <a:buFont typeface="Wingdings" panose="05000000000000000000" pitchFamily="2" charset="2"/>
              <a:buChar char="Ø"/>
            </a:pPr>
            <a:r>
              <a:rPr lang="en-US" dirty="0" smtClean="0"/>
              <a:t>SIMULINK POWER SYSTEM TOOLBOX</a:t>
            </a:r>
            <a:endParaRPr lang="en-US" dirty="0"/>
          </a:p>
        </p:txBody>
      </p:sp>
    </p:spTree>
    <p:extLst>
      <p:ext uri="{BB962C8B-B14F-4D97-AF65-F5344CB8AC3E}">
        <p14:creationId xmlns:p14="http://schemas.microsoft.com/office/powerpoint/2010/main" val="29675885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6008" y="146304"/>
            <a:ext cx="10515600" cy="739712"/>
          </a:xfrm>
        </p:spPr>
        <p:txBody>
          <a:bodyPr/>
          <a:lstStyle/>
          <a:p>
            <a:pPr algn="ctr"/>
            <a:r>
              <a:rPr lang="en-US" dirty="0" smtClean="0"/>
              <a:t>METHODOLOGY</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72513" y="853440"/>
            <a:ext cx="6352031" cy="2462784"/>
          </a:xfrm>
        </p:spPr>
      </p:pic>
      <p:sp>
        <p:nvSpPr>
          <p:cNvPr id="5" name="TextBox 4"/>
          <p:cNvSpPr txBox="1"/>
          <p:nvPr/>
        </p:nvSpPr>
        <p:spPr>
          <a:xfrm>
            <a:off x="475488" y="3645408"/>
            <a:ext cx="11265408" cy="3539430"/>
          </a:xfrm>
          <a:prstGeom prst="rect">
            <a:avLst/>
          </a:prstGeom>
          <a:noFill/>
        </p:spPr>
        <p:txBody>
          <a:bodyPr wrap="square" rtlCol="0">
            <a:spAutoFit/>
          </a:bodyPr>
          <a:lstStyle/>
          <a:p>
            <a:r>
              <a:rPr lang="en-US" sz="3200" dirty="0"/>
              <a:t>The methodology consists in counteracting deviations </a:t>
            </a:r>
            <a:r>
              <a:rPr lang="en-US" sz="3200" dirty="0" smtClean="0"/>
              <a:t>by measuring the grid’s frequency and injecting </a:t>
            </a:r>
            <a:r>
              <a:rPr lang="en-US" sz="3200" dirty="0"/>
              <a:t>active power </a:t>
            </a:r>
            <a:r>
              <a:rPr lang="en-US" sz="3200" dirty="0" smtClean="0"/>
              <a:t>into </a:t>
            </a:r>
            <a:r>
              <a:rPr lang="en-US" sz="3200" dirty="0"/>
              <a:t>the </a:t>
            </a:r>
            <a:r>
              <a:rPr lang="en-US" sz="3200" dirty="0" smtClean="0"/>
              <a:t>grid as appropriate. </a:t>
            </a:r>
            <a:r>
              <a:rPr lang="en-US" sz="3200" dirty="0"/>
              <a:t>This will be achieved by concerted effort between the virtual inertia controller and the primary frequency </a:t>
            </a:r>
            <a:r>
              <a:rPr lang="en-US" sz="3200" dirty="0" smtClean="0"/>
              <a:t>controller. A </a:t>
            </a:r>
            <a:r>
              <a:rPr lang="en-US" sz="3200" dirty="0" err="1" smtClean="0"/>
              <a:t>PD</a:t>
            </a:r>
            <a:r>
              <a:rPr lang="en-US" sz="3200" dirty="0" smtClean="0"/>
              <a:t> controller will be used and modified accordingly to achieve the desired result</a:t>
            </a:r>
            <a:endParaRPr lang="en-US" sz="3200" dirty="0"/>
          </a:p>
          <a:p>
            <a:endParaRPr lang="en-US" sz="3200" dirty="0"/>
          </a:p>
        </p:txBody>
      </p:sp>
    </p:spTree>
    <p:extLst>
      <p:ext uri="{BB962C8B-B14F-4D97-AF65-F5344CB8AC3E}">
        <p14:creationId xmlns:p14="http://schemas.microsoft.com/office/powerpoint/2010/main" val="38127566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6629"/>
            <a:ext cx="10515600" cy="1171067"/>
          </a:xfrm>
        </p:spPr>
        <p:txBody>
          <a:bodyPr/>
          <a:lstStyle/>
          <a:p>
            <a:pPr algn="ctr"/>
            <a:r>
              <a:rPr lang="en-US" dirty="0" smtClean="0"/>
              <a:t>CONCLUSION</a:t>
            </a:r>
            <a:endParaRPr lang="en-US" dirty="0"/>
          </a:p>
        </p:txBody>
      </p:sp>
      <p:sp>
        <p:nvSpPr>
          <p:cNvPr id="3" name="Content Placeholder 2"/>
          <p:cNvSpPr>
            <a:spLocks noGrp="1"/>
          </p:cNvSpPr>
          <p:nvPr>
            <p:ph idx="1"/>
          </p:nvPr>
        </p:nvSpPr>
        <p:spPr>
          <a:xfrm>
            <a:off x="838200" y="1475232"/>
            <a:ext cx="10515600" cy="4701731"/>
          </a:xfrm>
        </p:spPr>
        <p:txBody>
          <a:bodyPr/>
          <a:lstStyle/>
          <a:p>
            <a:pPr>
              <a:buFont typeface="Wingdings" panose="05000000000000000000" pitchFamily="2" charset="2"/>
              <a:buChar char="Ø"/>
            </a:pPr>
            <a:r>
              <a:rPr lang="en-US" dirty="0"/>
              <a:t>Because of the growing need for more energy and the potential dangers of conventional energy sources, there is an urgent need for clean and renewable energy sources and the gradual retirement of conventional energy sources</a:t>
            </a:r>
          </a:p>
          <a:p>
            <a:pPr>
              <a:buFont typeface="Wingdings" panose="05000000000000000000" pitchFamily="2" charset="2"/>
              <a:buChar char="Ø"/>
            </a:pPr>
            <a:r>
              <a:rPr lang="en-US" dirty="0" smtClean="0"/>
              <a:t>For connecting renewable energy sources like wind energy to the grid a lot of economic and technical issues like grid frequency security and stability will have to be considered and taken care of</a:t>
            </a:r>
          </a:p>
          <a:p>
            <a:pPr>
              <a:buFont typeface="Wingdings" panose="05000000000000000000" pitchFamily="2" charset="2"/>
              <a:buChar char="Ø"/>
            </a:pPr>
            <a:r>
              <a:rPr lang="en-US" dirty="0" smtClean="0"/>
              <a:t>Wind Energy Conversion Systems (</a:t>
            </a:r>
            <a:r>
              <a:rPr lang="en-US" dirty="0" err="1" smtClean="0"/>
              <a:t>WECS</a:t>
            </a:r>
            <a:r>
              <a:rPr lang="en-US" dirty="0" smtClean="0"/>
              <a:t>) should be provided with the ability to simulate virtual inertia and primary frequency response, thereby acting like the conventional generation systems</a:t>
            </a:r>
            <a:endParaRPr lang="en-US" dirty="0"/>
          </a:p>
        </p:txBody>
      </p:sp>
    </p:spTree>
    <p:extLst>
      <p:ext uri="{BB962C8B-B14F-4D97-AF65-F5344CB8AC3E}">
        <p14:creationId xmlns:p14="http://schemas.microsoft.com/office/powerpoint/2010/main" val="42465641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69915"/>
          </a:xfrm>
        </p:spPr>
        <p:txBody>
          <a:bodyPr>
            <a:normAutofit/>
          </a:bodyPr>
          <a:lstStyle/>
          <a:p>
            <a:pPr algn="ctr"/>
            <a:r>
              <a:rPr lang="en-US" sz="11500" dirty="0" smtClean="0"/>
              <a:t>THANK YOU!</a:t>
            </a:r>
            <a:endParaRPr lang="en-US" sz="11500" dirty="0"/>
          </a:p>
        </p:txBody>
      </p:sp>
    </p:spTree>
    <p:extLst>
      <p:ext uri="{BB962C8B-B14F-4D97-AF65-F5344CB8AC3E}">
        <p14:creationId xmlns:p14="http://schemas.microsoft.com/office/powerpoint/2010/main" val="1411116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358</TotalTime>
  <Words>948</Words>
  <Application>Microsoft Office PowerPoint</Application>
  <PresentationFormat>Widescreen</PresentationFormat>
  <Paragraphs>80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Office Theme</vt:lpstr>
      <vt:lpstr>A SEMINAR ON DEVELOPMENT OF INERTIA AND PRIMARY FREQUENCY CONTROLLERS FOR BRUSHLESS DOUBLY FED RELUCTANCE GENERATOR FOR WIND APPLICATIONS  BY  NAME: OKORIE KELECHI REG NO: 20154987028  PRESENTED TO  THE DEPARTMENT OF ELECTRICAL AND ELECTRONIC ENGINEERING FUTO IN PARTIAL FUFILLMENT OF THE REQUIREMENTS FOR THE AWARD OF MASTERS DEGREE (M.ENG) IN CONTROL SYSTEMS ENGINEERING SUPERVISOR: DR OBICHERE J. K.</vt:lpstr>
      <vt:lpstr>OUTLINE</vt:lpstr>
      <vt:lpstr>INTRODUCTION/BACKGROUND OF STUDY</vt:lpstr>
      <vt:lpstr>BACKGROUND OF STUDY CONTD.</vt:lpstr>
      <vt:lpstr>PROBLEM STATEMENT</vt:lpstr>
      <vt:lpstr>Frequency Event / Frequency Response</vt:lpstr>
      <vt:lpstr>AIMS AND OBJECTIVES</vt:lpstr>
      <vt:lpstr>JUSTIFICATION</vt:lpstr>
      <vt:lpstr>SCOPE OF THE STUDY</vt:lpstr>
      <vt:lpstr>LITERATURE REVIEW</vt:lpstr>
      <vt:lpstr>MATERIALS</vt:lpstr>
      <vt:lpstr>METHODOLOGY</vt:lpstr>
      <vt:lpstr>CONCLUSION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SEMINAR ON DEVELOPMENT OF INERTIA AND PRIMARY FREQUENCY CONTROLLERS FOR BRUSHLESS DOUBLY FED GENERAOTR FOR WIND APPLICATIONS BY NAME: OKORIE KELECHI REG NO: 20154987028 PRESENTED TO THE DEPARTMENT OF ELECTRICAL AND ELECTRONIC ENGINEERING IN PARTIAL FUFILLMENT OF THE REQUIREMENTS FOR THE AWARD OF MASTERS DEGREE (M.ENG) IN CONTROL SYSTEMS ENGINEERING SUPERVISOR: DR OBICHERE J. K.</dc:title>
  <dc:creator>Kelechi Okorie</dc:creator>
  <cp:lastModifiedBy>Kelechi Okorie</cp:lastModifiedBy>
  <cp:revision>34</cp:revision>
  <dcterms:created xsi:type="dcterms:W3CDTF">2018-03-19T11:35:31Z</dcterms:created>
  <dcterms:modified xsi:type="dcterms:W3CDTF">2018-03-20T16:15:48Z</dcterms:modified>
</cp:coreProperties>
</file>